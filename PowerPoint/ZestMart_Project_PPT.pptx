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12106656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502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ZestMart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RetailPulse India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128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360° Business Intelligence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486400" cy="274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944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analytics project on a 50-store Indian retail chain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 ·  MySQL  ·  Python  ·  Power BI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374904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374904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3749040"/>
            <a:ext cx="1554480" cy="384048"/>
          </a:xfrm>
          <a:prstGeom prst="roundRect">
            <a:avLst>
              <a:gd name="adj" fmla="val 47619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Rohan Kumar  ·  Data Analyst  ·  ZestMart Analytics Project 2023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ZestMart Analytics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fictional 50-store Indian retail chain — raw data to boardroom dashboards in 20 days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stores across 6 cities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Delhi, Mumbai, Bangalore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Chennai, Kolkata, Gaya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sales transactions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products, 10 stores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customers, 20 employees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analytics pipeline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CSV to dashboards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CEO-level insights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61120" y="146304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days structured plan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→ SQL → Python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Power BI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  →  Clean  →  Analyze  →  Visualize  →  Dashboard  → 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industry-standard tools — Excel, SQL, Python, Power BI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716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Microsoft Excel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VLOOKUP / HLOOKUP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INDEX-MATCH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IF &amp; Nested IF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3191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SUMIF / COUNTIF / AVERAGEIF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XLOOKUP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Pivot Tables &amp; Charts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Data Validation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" y="4544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Macros &amp; VBA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3716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13716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MySQL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64992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SELECT / WHERE / ORDER BY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364992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GROUP BY / HAVING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JOIN Types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3191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INSERT / UPDATE / DELETE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Subqueries &amp; CTEs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64992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Window Functions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Indexing &amp; EXPLAIN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364992" y="4544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Query Optimization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13716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🐍  Python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Lists, Dicts, Functions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CSV Read / Write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291072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NumPy Arrays &amp; Stats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3191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Pandas Clean &amp; Merge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GroupBy &amp; Pivot Table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EDA (10 Questions)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Matplotlib (8 Charts)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4544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Seaborn (8 Charts)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5256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137160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0" y="13716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Power BI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217152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Data Import (CSV, SQL)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Star Schema Modeling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2852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DAX Measures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217152" y="3191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CALCULATE / SUMX / RELATED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217152" y="3529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Measures vs Calc Columns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217152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4 Interactive Dashboards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217152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Slicers &amp; Filters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217152" y="4544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Navigation Buttons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— EXCEL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Analytics — Days 1 to 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ZestMart_RawData.xlsm — 10 sheets, 2229 formulas, 3 macros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1115568"/>
          </a:xfrm>
          <a:prstGeom prst="roundRect">
            <a:avLst>
              <a:gd name="adj" fmla="val 65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+ Lookups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9933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raw sheets (200 sales, 20 products, 10 stores, 20 customers, 20 employees). INDEX-MATCH across sheets, HLOOKUP for monthly targets.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5303520" cy="1115568"/>
          </a:xfrm>
          <a:prstGeom prst="roundRect">
            <a:avLst>
              <a:gd name="adj" fmla="val 65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715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2971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Logic + KPI Sheet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32278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Nested IF for order category &amp; performance rating. SUMIF, COUNTIF, AVERAGEIF, XLOOKUP for city-wise KPI dashboard.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303520" cy="1115568"/>
          </a:xfrm>
          <a:prstGeom prst="roundRect">
            <a:avLst>
              <a:gd name="adj" fmla="val 65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3950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4206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Pivot Tables + Charts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44622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Pivot Tables: city-monthly revenue, top 10 products, category performance. 3 Pivot Charts. Conditional formatting heat maps.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5120640"/>
            <a:ext cx="5303520" cy="1115568"/>
          </a:xfrm>
          <a:prstGeom prst="roundRect">
            <a:avLst>
              <a:gd name="adj" fmla="val 6557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5184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5440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+ Macros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56967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Validation dropdowns for city, category, store, discount. 3 Macros: Refresh Pivots, Highlight Summary, Export PDF (VBA).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5577840" cy="4892040"/>
          </a:xfrm>
          <a:prstGeom prst="roundRect">
            <a:avLst>
              <a:gd name="adj" fmla="val 1495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0" y="15361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19659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ZestMart_RawData.xlsm — macro-enabled workbook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4780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Sales_Enriched — 15 columns, 200 rows, VLOOKUP replaced by INDEX-MATCH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9900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KPI_Summary — city-wise SUMIF / COUNTIF / AVERAGEIF + XLOOKUP search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5021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Monthly_Targets — HLOOKUP source (10 stores × 12 months)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01421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Pivot_Analysis — 3 pivot tables + 3 pivot charts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5262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Data_Entry — validated form (city, category, store dropdowns)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03834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3 Macros — RefreshPivots, HighlightSummary, ExportPDF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5504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Conditional Formatting — color scales, icon sets, highlight rules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— SQL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Database — Days 5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zestmart_db — 6 tables, 47 queries, window functions &amp; optimization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0" y="25603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371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rows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371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840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38404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50292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18320" y="1371600"/>
            <a:ext cx="2468880" cy="4846320"/>
          </a:xfrm>
          <a:prstGeom prst="roundRect">
            <a:avLst>
              <a:gd name="adj" fmla="val 2963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5548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SQL Queries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SELECT / WHERE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2167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ORDER BY / LIMIT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55548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GROUP BY / HAVING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2752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INNER JOIN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LEFT / RIGHT JOIN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FULL OUTER JOIN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3630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INSERT / UPDATE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DELETE (safe)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4215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Subqueries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4507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CTEs (WITH)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4800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ROW_NUMBER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5093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RANK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555480" y="5385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LAG / LEAD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555480" y="56784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Running Total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555480" y="5971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Indexing / EXPLAIN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— PYTHON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Analytics — Days 11 to 16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Colab — NumPy, Pandas, EDA, Matplotlib, Seaborn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11  —  Raw Python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CSV read / write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Lists &amp; Dicts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Custom functions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Filter &amp; export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1655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12  —  NumPy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Array operations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Vectorized math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Statistics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Correlation matrix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13  —  Pandas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pd.read_csv &amp; merge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Data cleaning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GroupBy &amp; pivot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Export cleaned CSV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14  —  EDA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10 business questions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Revenue by city/segment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Discount impact analysis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summary 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16552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7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15  —  Matplotlib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416552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8 charts created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416552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Line, Bar, Pie, Scatter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416552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Heatmap, Subplots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16552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Saved as PNG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3816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02752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16  —  Seaborn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302752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8 advanced charts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02752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Pairplot, Boxplot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Violin, Regression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302752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Clustermap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Notebooks  ·  16 Charts  ·  10 EDA Questions  ·  1 Combined Report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1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— POWER BI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Dashboards — Days 17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interactive dashboards — Star Schema + 12 DAX measures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18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5 KPI Cards (Revenue, Orders, Avg, Profit, Margin)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Monthly revenue trend line chart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City revenue bar chart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3776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Category donut chart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Top products table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" y="4782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Zone performance bar chart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3716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0128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19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4 KPI Cards (Orders, Qty, Discount, Avg Disc%)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Store-wise revenue bar chart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64992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Category quantity donut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64992" y="3776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Discount scatter analysis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Zone × Category matrix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364992" y="4782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Store performance table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Analysis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19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29107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4 KPI Cards (Employees, Active, Salary, Stores)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Employees by city chart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Avg salary by department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291072" y="3776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Role distribution donut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Store headcount table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4782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Active vs Resigned pie chart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52560" y="1371600"/>
            <a:ext cx="2697480" cy="4937760"/>
          </a:xfrm>
          <a:prstGeom prst="roundRect">
            <a:avLst>
              <a:gd name="adj" fmla="val 2712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13716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62288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9162288" y="1755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62288" y="1444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20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4 KPI Cards (Customers, Premium, Avg Rev, Repeat)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217152" y="2770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Revenue by segment bar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217152" y="3273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Age group donut chart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217152" y="37764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Top 10 customers table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9217152" y="4279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Gender revenue pie chart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217152" y="4782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Monthly segment trend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BUSINESS INSIGHTS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Insights from ZestMart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 from EDA, SQL &amp; Power BI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 17.94L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200 transactions, 10 stores,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City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74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Kolkata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revenue — Flagship store dominance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5819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581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874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77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profit margin — Samsung TV biggest seller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22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Segment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Customers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17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 of total customers — highest avg order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51960" y="36576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3822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Profit Margin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27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23.82%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434840" y="4617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across categories — Electronics highest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36576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3822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Impact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4114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 Zero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617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Correlation = 0.021 — discount does NOT increase qty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 in 20 Days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data analytics pipeline — from raw CSV to boardroom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4892040"/>
          </a:xfrm>
          <a:prstGeom prst="roundRect">
            <a:avLst>
              <a:gd name="adj" fmla="val 1495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36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2,229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Formulas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Queries Written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Charts Created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990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447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27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4014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Tables Built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38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95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Transactions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038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5495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5577840" cy="4892040"/>
          </a:xfrm>
          <a:prstGeom prst="roundRect">
            <a:avLst>
              <a:gd name="adj" fmla="val 1495"/>
            </a:avLst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15361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Deliverables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19933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ZestMart_RawData.xlsm — Macro-enabled workbook, 10 sheets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2679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zestmart_db — MySQL database with 6 tables and optimized queries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3649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🐍  ZestMart_Python_Analysis.ipynb — 6 Jupyter notebooks with EDA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0507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ZestMart_Dashboard.pbix — 4 Power BI dashboards with star schema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7365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🖼️  16 Chart PNGs — Matplotlib &amp; Seaborn visualizations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4223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GitHub Repo — ZestMart-Analytics-System with full README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RetailPulse India — ZestMart Analytics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78608"/>
            <a:ext cx="4572000" cy="274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8346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  Rohan Kumar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  BA — Vivekananda Global University (VGU CDOE), 2028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404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  Gaya, Bihar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434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 linkedin.com/in/rohan-kumar-a01878371/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463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🐙   github.com/rohanrajkumar707910-hash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7452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378440" y="5760720"/>
            <a:ext cx="1261872" cy="347472"/>
          </a:xfrm>
          <a:prstGeom prst="roundRect">
            <a:avLst>
              <a:gd name="adj" fmla="val 47368"/>
            </a:avLst>
          </a:prstGeom>
          <a:solidFill>
            <a:srgbClr val="16203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78440" y="57607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3276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to Data Analyst Internships &amp; Entry-Level Roles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2026-09-07T07:14:17Z</dcterms:created>
  <dcterms:modified xsi:type="dcterms:W3CDTF">2026-09-07T07:14:17Z</dcterms:modified>
</cp:coreProperties>
</file>